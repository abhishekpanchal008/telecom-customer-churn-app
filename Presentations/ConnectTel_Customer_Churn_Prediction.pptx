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C56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22C56"/>
                </a:solidFill>
                <a:latin typeface="Cambria"/>
              </a:rPr>
              <a:t>Accuracy vs. ROC-AUC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3F6C9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80.6</c:v>
                </c:pt>
                <c:pt idx="1">
                  <c:v>79.7</c:v>
                </c:pt>
                <c:pt idx="2">
                  <c:v>79.8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 (%)</c:v>
                </c:pt>
              </c:strCache>
            </c:strRef>
          </c:tx>
          <c:spPr>
            <a:solidFill>
              <a:srgbClr val="D65A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83.5</c:v>
                </c:pt>
                <c:pt idx="1">
                  <c:v>81.6</c:v>
                </c:pt>
                <c:pt idx="2">
                  <c:v>84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0"/>
        </c:scaling>
        <c:delete val="0"/>
        <c:axPos val="l"/>
        <c:majorGridlines>
          <c:spPr>
            <a:ln w="9525" cap="flat">
              <a:solidFill>
                <a:srgbClr val="DDE5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B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ln w="19050">
            <a:solidFill>
              <a:srgbClr val="1B3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371600"/>
            <a:ext cx="4663440" cy="4663440"/>
          </a:xfrm>
          <a:prstGeom prst="ellipse">
            <a:avLst/>
          </a:prstGeom>
          <a:ln w="19050">
            <a:solidFill>
              <a:srgbClr val="1B3E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743200"/>
            <a:ext cx="5669280" cy="5669280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3840480"/>
            <a:ext cx="3474720" cy="3474720"/>
          </a:xfrm>
          <a:prstGeom prst="ellipse">
            <a:avLst/>
          </a:prstGeom>
          <a:solidFill>
            <a:srgbClr val="122C56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12801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0" y="210312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0" y="26517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64008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9052560" y="17373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1188720"/>
            <a:ext cx="1371600" cy="1371600"/>
          </a:xfrm>
          <a:prstGeom prst="ellipse">
            <a:avLst/>
          </a:prstGeom>
          <a:solidFill>
            <a:srgbClr val="1B3E6E"/>
          </a:solidFill>
          <a:ln/>
        </p:spPr>
      </p:sp>
      <p:pic>
        <p:nvPicPr>
          <p:cNvPr id="12" name="Image 0" descr="/home/claude/build/icons/chart_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8420" y="1531620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1874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MACHINE LEARNING CASE STUDY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228600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Customer
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Prediction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822960" y="3977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attrition for ConnectTel with explainable, end-to-end machine learning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" y="4617720"/>
            <a:ext cx="886968" cy="384048"/>
          </a:xfrm>
          <a:prstGeom prst="roundRect">
            <a:avLst>
              <a:gd name="adj" fmla="val 50000"/>
            </a:avLst>
          </a:prstGeom>
          <a:solidFill>
            <a:srgbClr val="1B3E6E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617720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874520" y="46177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B3E6E"/>
          </a:solidFill>
          <a:ln/>
        </p:spPr>
      </p:sp>
      <p:sp>
        <p:nvSpPr>
          <p:cNvPr id="19" name="Text 16"/>
          <p:cNvSpPr/>
          <p:nvPr/>
        </p:nvSpPr>
        <p:spPr>
          <a:xfrm>
            <a:off x="1874520" y="4617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502152" y="461772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1B3E6E"/>
          </a:solidFill>
          <a:ln/>
        </p:spPr>
      </p:sp>
      <p:sp>
        <p:nvSpPr>
          <p:cNvPr id="21" name="Text 18"/>
          <p:cNvSpPr/>
          <p:nvPr/>
        </p:nvSpPr>
        <p:spPr>
          <a:xfrm>
            <a:off x="3502152" y="4617720"/>
            <a:ext cx="982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649724" y="4617720"/>
            <a:ext cx="694944" cy="384048"/>
          </a:xfrm>
          <a:prstGeom prst="roundRect">
            <a:avLst>
              <a:gd name="adj" fmla="val 50000"/>
            </a:avLst>
          </a:prstGeom>
          <a:solidFill>
            <a:srgbClr val="1B3E6E"/>
          </a:solidFill>
          <a:ln/>
        </p:spPr>
      </p:sp>
      <p:sp>
        <p:nvSpPr>
          <p:cNvPr id="23" name="Text 20"/>
          <p:cNvSpPr/>
          <p:nvPr/>
        </p:nvSpPr>
        <p:spPr>
          <a:xfrm>
            <a:off x="4649724" y="4617720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509260" y="46177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B3E6E"/>
          </a:solidFill>
          <a:ln/>
        </p:spPr>
      </p:sp>
      <p:sp>
        <p:nvSpPr>
          <p:cNvPr id="25" name="Text 22"/>
          <p:cNvSpPr/>
          <p:nvPr/>
        </p:nvSpPr>
        <p:spPr>
          <a:xfrm>
            <a:off x="5509260" y="4617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22960" y="5806440"/>
            <a:ext cx="0" cy="566928"/>
          </a:xfrm>
          <a:prstGeom prst="line">
            <a:avLst/>
          </a:prstGeom>
          <a:noFill/>
          <a:ln w="19050">
            <a:solidFill>
              <a:srgbClr val="1B3E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24128" y="5742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Abhishek Panchal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1024128" y="6108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Machine Learning Portfolio  | 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158191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089404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894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3312" y="207111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578608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25603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067812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067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53312" y="304952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3557016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353872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4046220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462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53312" y="402793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4535424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53312" y="451713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2960" y="5024628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24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53312" y="50063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Workflow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2960" y="5513832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513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53312" y="549554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9360" y="1600200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39712" y="158191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309360" y="2089404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0894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39712" y="207111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309360" y="2578608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39712" y="25603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309360" y="3067812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3067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39712" y="304952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309360" y="3557016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39712" y="353872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309360" y="4046220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40462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839712" y="402793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309360" y="4535424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839712" y="451713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309360" y="5024628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53" name="Text 51"/>
          <p:cNvSpPr/>
          <p:nvPr/>
        </p:nvSpPr>
        <p:spPr>
          <a:xfrm>
            <a:off x="6309360" y="50246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839712" y="50063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6309360" y="5513832"/>
            <a:ext cx="384048" cy="384048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56" name="Text 54"/>
          <p:cNvSpPr/>
          <p:nvPr/>
        </p:nvSpPr>
        <p:spPr>
          <a:xfrm>
            <a:off x="6309360" y="5513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839712" y="549554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end-to-end machine learning pipeline that predicts customer churn for ConnectTel — a telecom provider — using demographic, account, and service data. The workflow spans data cleaning, exploratory analysis, feature engineering, model training, hyperparameter tuning, and explainable AI.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17320" y="2537460"/>
            <a:ext cx="777240" cy="77724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9" name="Image 0" descr="/home/claude/build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2731770"/>
            <a:ext cx="388620" cy="3886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4015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37307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 7,043 customer records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19272" y="24231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87952" y="2537460"/>
            <a:ext cx="777240" cy="77724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14" name="Image 1" descr="/home/claude/build/icons/magnif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262" y="2731770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10712" y="34015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02152" y="37307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behavioral churn patterns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89904" y="24231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58584" y="2537460"/>
            <a:ext cx="777240" cy="77724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19" name="Image 2" descr="/home/claude/build/icons/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894" y="2731770"/>
            <a:ext cx="388620" cy="3886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81344" y="34015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272784" y="37307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tune 3 classification models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860536" y="24231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29216" y="2537460"/>
            <a:ext cx="777240" cy="77724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24" name="Image 3" descr="/home/claude/build/icons/brai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3526" y="2731770"/>
            <a:ext cx="388620" cy="3886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51976" y="34015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043416" y="37307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drivers with SHAP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5074920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" y="50749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1737360" y="507492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31" name="Text 25"/>
          <p:cNvSpPr/>
          <p:nvPr/>
        </p:nvSpPr>
        <p:spPr>
          <a:xfrm>
            <a:off x="1737360" y="50749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3657600" y="507492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33" name="Text 27"/>
          <p:cNvSpPr/>
          <p:nvPr/>
        </p:nvSpPr>
        <p:spPr>
          <a:xfrm>
            <a:off x="3657600" y="507492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5394960" y="507492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35" name="Text 29"/>
          <p:cNvSpPr/>
          <p:nvPr/>
        </p:nvSpPr>
        <p:spPr>
          <a:xfrm>
            <a:off x="5394960" y="50749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675120" y="5074920"/>
            <a:ext cx="822960" cy="402336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37" name="Text 31"/>
          <p:cNvSpPr/>
          <p:nvPr/>
        </p:nvSpPr>
        <p:spPr>
          <a:xfrm>
            <a:off x="6675120" y="507492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7680960" y="507492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39" name="Text 33"/>
          <p:cNvSpPr/>
          <p:nvPr/>
        </p:nvSpPr>
        <p:spPr>
          <a:xfrm>
            <a:off x="7680960" y="50749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10149840" y="507492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41" name="Text 35"/>
          <p:cNvSpPr/>
          <p:nvPr/>
        </p:nvSpPr>
        <p:spPr>
          <a:xfrm>
            <a:off x="10149840" y="507492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ConnectTel is facing customer churn, which results in direct revenue loss. The objective of this project is to build a machine learning model that predicts whether a customer is likely to churn, based on demographic, service, and account information.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PREDICTION MATTERS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82296" cy="82296"/>
          </a:xfrm>
          <a:prstGeom prst="ellipse">
            <a:avLst/>
          </a:prstGeom>
          <a:solidFill>
            <a:srgbClr val="D65A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72968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Retaining an existing customer is far more cost-effective than acquiring a new one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82296" cy="82296"/>
          </a:xfrm>
          <a:prstGeom prst="ellipse">
            <a:avLst/>
          </a:prstGeom>
          <a:solidFill>
            <a:srgbClr val="D65A4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31336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at-risk customers enables targeted, timely retention offers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36008"/>
            <a:ext cx="82296" cy="82296"/>
          </a:xfrm>
          <a:prstGeom prst="ellipse">
            <a:avLst/>
          </a:prstGeom>
          <a:solidFill>
            <a:srgbClr val="D65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89704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churn protects recurring revenue and long-term customer lifetime value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06640" y="1417320"/>
            <a:ext cx="4023360" cy="4251960"/>
          </a:xfrm>
          <a:prstGeom prst="roundRect">
            <a:avLst>
              <a:gd name="adj" fmla="val 1818"/>
            </a:avLst>
          </a:prstGeom>
          <a:solidFill>
            <a:srgbClr val="122C56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029700" y="1760220"/>
            <a:ext cx="777240" cy="777240"/>
          </a:xfrm>
          <a:prstGeom prst="ellipse">
            <a:avLst/>
          </a:prstGeom>
          <a:solidFill>
            <a:srgbClr val="D65A4A"/>
          </a:solidFill>
          <a:ln/>
        </p:spPr>
      </p:sp>
      <p:pic>
        <p:nvPicPr>
          <p:cNvPr id="16" name="Image 0" descr="/home/claude/build/icons/trend_d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4010" y="1954530"/>
            <a:ext cx="388620" cy="3886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589520" y="27432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7772400" y="3611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ConnectTel customers churned in the observed dataset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863840" y="4434840"/>
            <a:ext cx="3108960" cy="0"/>
          </a:xfrm>
          <a:prstGeom prst="line">
            <a:avLst/>
          </a:prstGeom>
          <a:noFill/>
          <a:ln w="12700">
            <a:solidFill>
              <a:srgbClr val="1B3E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0" y="46177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churn rate this size represents a significant, addressable revenue risk — and a clear opportunity for a predictive, proactive retention strategy.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5256" y="1842516"/>
            <a:ext cx="658368" cy="658368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8" name="Image 0" descr="/home/claude/build/icons/magnif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0071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6642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Data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37360" y="206654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behavioral patterns that precede churn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463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28816" y="1842516"/>
            <a:ext cx="658368" cy="658368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13" name="Image 1" descr="/home/claude/build/icons/gea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0071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16642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Features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360920" y="206654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the predictive signal beyond raw fields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1089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05256" y="3488436"/>
            <a:ext cx="658368" cy="658368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18" name="Image 2" descr="/home/claude/build/icons/robo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65302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33101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Compare Models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737360" y="371246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Logistic Regression, Random Forest &amp; XGBoost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172200" y="31089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28816" y="3488436"/>
            <a:ext cx="658368" cy="658368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23" name="Image 3" descr="/home/claude/build/icons/slid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365302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33101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the Best Model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360920" y="371246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XGBoost with GridSearchCV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47548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05256" y="5134356"/>
            <a:ext cx="658368" cy="658368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28" name="Image 4" descr="/home/claude/build/icons/brain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5298948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737360" y="49560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Predictions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1737360" y="535838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for model transparency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6172200" y="47548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528816" y="5134356"/>
            <a:ext cx="658368" cy="658368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33" name="Image 5" descr="/home/claude/build/icons/bullsey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5298948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360920" y="49560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Business Action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7360920" y="535838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insights into retention strategy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508760"/>
            <a:ext cx="23865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238658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01568" y="1508760"/>
            <a:ext cx="23865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01568" y="1993392"/>
            <a:ext cx="238658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44768" y="1508760"/>
            <a:ext cx="23865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6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44768" y="1993392"/>
            <a:ext cx="238658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7824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87968" y="1508760"/>
            <a:ext cx="2386584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/ No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887968" y="1993392"/>
            <a:ext cx="238658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246120"/>
            <a:ext cx="73152" cy="594360"/>
          </a:xfrm>
          <a:prstGeom prst="roundRect">
            <a:avLst>
              <a:gd name="adj" fmla="val 50000"/>
            </a:avLst>
          </a:prstGeom>
          <a:solidFill>
            <a:srgbClr val="3F6C9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1729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34930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 citizen status, partner, dependents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4343400"/>
            <a:ext cx="73152" cy="594360"/>
          </a:xfrm>
          <a:prstGeom prst="roundRect">
            <a:avLst>
              <a:gd name="adj" fmla="val 50000"/>
            </a:avLst>
          </a:prstGeom>
          <a:solidFill>
            <a:srgbClr val="3F6C9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2702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Details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14400" y="4590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 type, billing, payment method, charges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2578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5440680"/>
            <a:ext cx="73152" cy="594360"/>
          </a:xfrm>
          <a:prstGeom prst="roundRect">
            <a:avLst>
              <a:gd name="adj" fmla="val 50000"/>
            </a:avLst>
          </a:prstGeom>
          <a:solidFill>
            <a:srgbClr val="3F6C9E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367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Subscribed Services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14400" y="56875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internet, security, backup, streaming &amp; support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55080" y="2697480"/>
            <a:ext cx="5285232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37960" y="2834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Distribution — Actual Chart from Notebook</a:t>
            </a:r>
            <a:endParaRPr lang="en-US" sz="1200" dirty="0"/>
          </a:p>
        </p:txBody>
      </p:sp>
      <p:pic>
        <p:nvPicPr>
          <p:cNvPr id="33" name="Image 0" descr="/home/claude/build/nb_images/churn_distribution_1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5364" y="3291840"/>
            <a:ext cx="3184664" cy="237744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537960" y="5806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5,174 customers retained  •  1,869 customers churned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23544" y="1837944"/>
            <a:ext cx="621792" cy="621792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8" name="Image 0" descr="/home/claude/build/icons/filt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99339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Correction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91640" y="202996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"TotalCharges" was stored as text and converted to a proper numeric type for modeling.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463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47104" y="1837944"/>
            <a:ext cx="621792" cy="621792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13" name="Image 1" descr="/home/claude/build/icons/warning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99339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315200" y="202996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records with missing "TotalCharges" (blank strings) were identified and removed.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03580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23544" y="3410712"/>
            <a:ext cx="621792" cy="621792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18" name="Image 2" descr="/home/claude/build/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56616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2186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Check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691640" y="360273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checked for duplicate records — none were found.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172200" y="303580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47104" y="3410712"/>
            <a:ext cx="621792" cy="621792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23" name="Image 3" descr="/home/claude/build/icons/databas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3566160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32186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Dataset Ready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315200" y="360273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data was saved and carried forward into feature engineering.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4700016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122C56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1188720" y="470001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 rows</a:t>
            </a:r>
            <a:endParaRPr lang="en-US" sz="1900" dirty="0"/>
          </a:p>
        </p:txBody>
      </p:sp>
      <p:sp>
        <p:nvSpPr>
          <p:cNvPr id="28" name="Shape 22"/>
          <p:cNvSpPr/>
          <p:nvPr/>
        </p:nvSpPr>
        <p:spPr>
          <a:xfrm>
            <a:off x="3749040" y="4860036"/>
            <a:ext cx="457200" cy="457200"/>
          </a:xfrm>
          <a:prstGeom prst="ellipse">
            <a:avLst/>
          </a:prstGeom>
          <a:solidFill>
            <a:srgbClr val="1B3E6E"/>
          </a:solidFill>
          <a:ln/>
        </p:spPr>
      </p:sp>
      <p:pic>
        <p:nvPicPr>
          <p:cNvPr id="29" name="Image 4" descr="/home/claude/build/icons/chevronrigh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910" y="4962906"/>
            <a:ext cx="251460" cy="2514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480560" y="470001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7,032 rows × 21 columns</a:t>
            </a:r>
            <a:endParaRPr lang="en-US" sz="1900" dirty="0"/>
          </a:p>
        </p:txBody>
      </p:sp>
      <p:sp>
        <p:nvSpPr>
          <p:cNvPr id="31" name="Text 24"/>
          <p:cNvSpPr/>
          <p:nvPr/>
        </p:nvSpPr>
        <p:spPr>
          <a:xfrm>
            <a:off x="7863840" y="470001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Final, model-ready dataset after cleaning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CHURN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pic>
        <p:nvPicPr>
          <p:cNvPr id="7" name="Image 0" descr="/home/claude/build/nb_images/contract_vs_churn_1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483" y="1508760"/>
            <a:ext cx="2375555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1821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the most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pic>
        <p:nvPicPr>
          <p:cNvPr id="10" name="Image 1" descr="/home/claude/build/nb_images/internet_service_vs_churn_21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953" y="1508760"/>
            <a:ext cx="2195735" cy="1645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9360" y="31821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users churn more than DSL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7490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pic>
        <p:nvPicPr>
          <p:cNvPr id="13" name="Image 2" descr="/home/claude/build/nb_images/tenure_distribution_25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701" y="3840480"/>
            <a:ext cx="2467118" cy="1645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" y="551383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customers are still early in tenure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72200" y="37490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pic>
        <p:nvPicPr>
          <p:cNvPr id="16" name="Image 3" descr="/home/claude/build/nb_images/monthly_charges_vs_churn_29_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742" y="3840480"/>
            <a:ext cx="2444156" cy="1645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551383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tend to pay higher monthly charges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PREDICTIVE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were derived from existing fields to strengthen the model’s predictive power beyond the raw dataset.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33956" y="2240280"/>
            <a:ext cx="731520" cy="731520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9" name="Image 0" descr="/home/claude/build/icons/chart_lin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836" y="24231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0632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TotalChargesPerTenure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3456432"/>
            <a:ext cx="2953512" cy="347472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456432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÷ tenure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7240" y="386791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spend across a customer’s full tenure, smoothing outliers for new customers.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33672" y="201168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18988" y="2240280"/>
            <a:ext cx="731520" cy="731520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16" name="Image 1" descr="/home/claude/build/icons/layergroup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868" y="24231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70832" y="30632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ServiceCount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507992" y="3456432"/>
            <a:ext cx="2953512" cy="347472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/>
        </p:spPr>
      </p:sp>
      <p:sp>
        <p:nvSpPr>
          <p:cNvPr id="19" name="Text 15"/>
          <p:cNvSpPr/>
          <p:nvPr/>
        </p:nvSpPr>
        <p:spPr>
          <a:xfrm>
            <a:off x="4507992" y="3456432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active add-on services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462272" y="386791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subscribed services per customer — a proxy for account engagement.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918704" y="201168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304020" y="2240280"/>
            <a:ext cx="731520" cy="731520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23" name="Image 2" descr="/home/claude/build/icons/clockrotat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242316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55864" y="30632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LongTermCustomer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8193024" y="3456432"/>
            <a:ext cx="2953512" cy="347472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/>
        </p:spPr>
      </p:sp>
      <p:sp>
        <p:nvSpPr>
          <p:cNvPr id="26" name="Text 21"/>
          <p:cNvSpPr/>
          <p:nvPr/>
        </p:nvSpPr>
        <p:spPr>
          <a:xfrm>
            <a:off x="8193024" y="3456432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≥ 24 months → 1, else 0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147304" y="386791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flag identifying established, long-tenured customers.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48640" y="4572000"/>
            <a:ext cx="10789920" cy="822960"/>
          </a:xfrm>
          <a:prstGeom prst="roundRect">
            <a:avLst>
              <a:gd name="adj" fmla="val 8889"/>
            </a:avLst>
          </a:prstGeom>
          <a:solidFill>
            <a:srgbClr val="122C56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1188720" y="4572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predictor columns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3977640" y="4754880"/>
            <a:ext cx="457200" cy="457200"/>
          </a:xfrm>
          <a:prstGeom prst="ellipse">
            <a:avLst/>
          </a:prstGeom>
          <a:solidFill>
            <a:srgbClr val="1B3E6E"/>
          </a:solidFill>
          <a:ln/>
        </p:spPr>
      </p:sp>
      <p:pic>
        <p:nvPicPr>
          <p:cNvPr id="31" name="Image 3" descr="/home/claude/build/icons/chevron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510" y="4857750"/>
            <a:ext cx="251460" cy="2514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70916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model-ready features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7863840" y="4572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one-hot encoding categorical variables (drop_first=True)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965960" y="2148840"/>
            <a:ext cx="2021738" cy="0"/>
          </a:xfrm>
          <a:prstGeom prst="line">
            <a:avLst/>
          </a:prstGeom>
          <a:noFill/>
          <a:ln w="31750">
            <a:solidFill>
              <a:srgbClr val="3F6C9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84978" y="2148840"/>
            <a:ext cx="2021738" cy="0"/>
          </a:xfrm>
          <a:prstGeom prst="line">
            <a:avLst/>
          </a:prstGeom>
          <a:noFill/>
          <a:ln w="31750">
            <a:solidFill>
              <a:srgbClr val="3F6C9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03997" y="2148840"/>
            <a:ext cx="2021738" cy="0"/>
          </a:xfrm>
          <a:prstGeom prst="line">
            <a:avLst/>
          </a:prstGeom>
          <a:noFill/>
          <a:ln w="31750">
            <a:solidFill>
              <a:srgbClr val="3F6C9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03997" y="4434840"/>
            <a:ext cx="2021738" cy="0"/>
          </a:xfrm>
          <a:prstGeom prst="line">
            <a:avLst/>
          </a:prstGeom>
          <a:noFill/>
          <a:ln w="31750">
            <a:solidFill>
              <a:srgbClr val="3F6C9E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5084978" y="4434840"/>
            <a:ext cx="2021738" cy="0"/>
          </a:xfrm>
          <a:prstGeom prst="line">
            <a:avLst/>
          </a:prstGeom>
          <a:noFill/>
          <a:ln w="31750">
            <a:solidFill>
              <a:srgbClr val="3F6C9E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1965960" y="4434840"/>
            <a:ext cx="2021738" cy="0"/>
          </a:xfrm>
          <a:prstGeom prst="line">
            <a:avLst/>
          </a:prstGeom>
          <a:noFill/>
          <a:ln w="31750">
            <a:solidFill>
              <a:srgbClr val="3F6C9E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10774375" y="2679192"/>
            <a:ext cx="0" cy="1225296"/>
          </a:xfrm>
          <a:prstGeom prst="line">
            <a:avLst/>
          </a:prstGeom>
          <a:noFill/>
          <a:ln w="31750">
            <a:solidFill>
              <a:srgbClr val="3F6C9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60120" y="1691640"/>
            <a:ext cx="914400" cy="91440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14" name="Image 0" descr="/home/claude/build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1929384"/>
            <a:ext cx="438912" cy="43891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693469" y="1543507"/>
            <a:ext cx="329184" cy="329184"/>
          </a:xfrm>
          <a:prstGeom prst="ellipse">
            <a:avLst/>
          </a:prstGeom>
          <a:solidFill>
            <a:srgbClr val="3F6C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93469" y="15435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2715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079138" y="1691640"/>
            <a:ext cx="914400" cy="91440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19" name="Image 1" descr="/home/claude/build/icons/broom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882" y="1929384"/>
            <a:ext cx="438912" cy="43891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812487" y="1543507"/>
            <a:ext cx="329184" cy="329184"/>
          </a:xfrm>
          <a:prstGeom prst="ellipse">
            <a:avLst/>
          </a:prstGeom>
          <a:solidFill>
            <a:srgbClr val="3F6C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12487" y="15435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667658" y="2715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198157" y="1691640"/>
            <a:ext cx="914400" cy="91440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24" name="Image 2" descr="/home/claude/build/icons/magnif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901" y="1929384"/>
            <a:ext cx="438912" cy="43891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931506" y="1543507"/>
            <a:ext cx="329184" cy="329184"/>
          </a:xfrm>
          <a:prstGeom prst="ellipse">
            <a:avLst/>
          </a:prstGeom>
          <a:solidFill>
            <a:srgbClr val="3F6C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931506" y="15435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786677" y="2715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10317175" y="1691640"/>
            <a:ext cx="914400" cy="91440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29" name="Image 3" descr="/home/claude/build/icons/gea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4919" y="1929384"/>
            <a:ext cx="438912" cy="43891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11050524" y="1543507"/>
            <a:ext cx="329184" cy="329184"/>
          </a:xfrm>
          <a:prstGeom prst="ellipse">
            <a:avLst/>
          </a:prstGeom>
          <a:solidFill>
            <a:srgbClr val="3F6C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1050524" y="15435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9905695" y="2715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10317175" y="3977640"/>
            <a:ext cx="914400" cy="91440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34" name="Image 4" descr="/home/claude/build/icons/robo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4919" y="4215384"/>
            <a:ext cx="438912" cy="43891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1050524" y="3829507"/>
            <a:ext cx="329184" cy="329184"/>
          </a:xfrm>
          <a:prstGeom prst="ellipse">
            <a:avLst/>
          </a:prstGeom>
          <a:solidFill>
            <a:srgbClr val="3F6C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1050524" y="38295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9905695" y="5001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7198157" y="3977640"/>
            <a:ext cx="914400" cy="91440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39" name="Image 5" descr="/home/claude/build/icons/sca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5901" y="4215384"/>
            <a:ext cx="438912" cy="438912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7931506" y="3829507"/>
            <a:ext cx="329184" cy="329184"/>
          </a:xfrm>
          <a:prstGeom prst="ellipse">
            <a:avLst/>
          </a:prstGeom>
          <a:solidFill>
            <a:srgbClr val="3F6C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7931506" y="38295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6786677" y="5001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43" name="Shape 35"/>
          <p:cNvSpPr/>
          <p:nvPr/>
        </p:nvSpPr>
        <p:spPr>
          <a:xfrm>
            <a:off x="4079138" y="3977640"/>
            <a:ext cx="914400" cy="91440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44" name="Image 6" descr="/home/claude/build/icons/brain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6882" y="4215384"/>
            <a:ext cx="438912" cy="438912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4812487" y="3829507"/>
            <a:ext cx="329184" cy="329184"/>
          </a:xfrm>
          <a:prstGeom prst="ellipse">
            <a:avLst/>
          </a:prstGeom>
          <a:solidFill>
            <a:srgbClr val="3F6C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4812487" y="38295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7" name="Text 38"/>
          <p:cNvSpPr/>
          <p:nvPr/>
        </p:nvSpPr>
        <p:spPr>
          <a:xfrm>
            <a:off x="3667658" y="5001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</a:t>
            </a:r>
            <a:endParaRPr lang="en-US" sz="1250" dirty="0"/>
          </a:p>
        </p:txBody>
      </p:sp>
      <p:sp>
        <p:nvSpPr>
          <p:cNvPr id="48" name="Shape 39"/>
          <p:cNvSpPr/>
          <p:nvPr/>
        </p:nvSpPr>
        <p:spPr>
          <a:xfrm>
            <a:off x="960120" y="3977640"/>
            <a:ext cx="914400" cy="914400"/>
          </a:xfrm>
          <a:prstGeom prst="ellipse">
            <a:avLst/>
          </a:prstGeom>
          <a:solidFill>
            <a:srgbClr val="D65A4A"/>
          </a:solidFill>
          <a:ln/>
        </p:spPr>
      </p:sp>
      <p:pic>
        <p:nvPicPr>
          <p:cNvPr id="49" name="Image 7" descr="/home/claude/build/icons/bullsey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7864" y="4215384"/>
            <a:ext cx="438912" cy="438912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1693469" y="3829507"/>
            <a:ext cx="329184" cy="329184"/>
          </a:xfrm>
          <a:prstGeom prst="ellipse">
            <a:avLst/>
          </a:prstGeom>
          <a:solidFill>
            <a:srgbClr val="3F6C9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1693469" y="38295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52" name="Text 42"/>
          <p:cNvSpPr/>
          <p:nvPr/>
        </p:nvSpPr>
        <p:spPr>
          <a:xfrm>
            <a:off x="548640" y="5001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53" name="Text 43"/>
          <p:cNvSpPr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1–4 form the data foundation; stages 5–8 build, evaluate, and explain the predictive model.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· MODEL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serves as the baseline classification model. It predicts the probability that a customer will churn using a linear combination of scaled numeric and encoded categorical features.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118104"/>
            <a:ext cx="73152" cy="73152"/>
          </a:xfrm>
          <a:prstGeom prst="ellipse">
            <a:avLst/>
          </a:prstGeom>
          <a:solidFill>
            <a:srgbClr val="3F6C9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30083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train, with highly interpretable coefficients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38728"/>
            <a:ext cx="73152" cy="73152"/>
          </a:xfrm>
          <a:prstGeom prst="ellipse">
            <a:avLst/>
          </a:prstGeom>
          <a:solidFill>
            <a:srgbClr val="3F6C9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the benchmark for the ensemble models that follow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73152" cy="73152"/>
          </a:xfrm>
          <a:prstGeom prst="ellipse">
            <a:avLst/>
          </a:prstGeom>
          <a:solidFill>
            <a:srgbClr val="3F6C9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8496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standardized (scaled) numeric features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25877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73368" y="1508760"/>
            <a:ext cx="2368296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80.60%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73368" y="2048256"/>
            <a:ext cx="236829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34272" y="1417320"/>
            <a:ext cx="25877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0" y="1508760"/>
            <a:ext cx="2368296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0" y="2048256"/>
            <a:ext cx="236829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(Churn)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2651760"/>
            <a:ext cx="25877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73368" y="2743200"/>
            <a:ext cx="2368296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73368" y="3282696"/>
            <a:ext cx="236829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(Churn)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34272" y="2651760"/>
            <a:ext cx="25877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0" y="2743200"/>
            <a:ext cx="2368296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44000" y="3282696"/>
            <a:ext cx="236829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(Churn)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TEST SET (n = 1,407)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5394960" cy="123444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C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Churn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C5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C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C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Churn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F1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6263640" y="44805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22C56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53796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Insight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537960" y="49834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its simplicity, Logistic Regression achieved the highest raw accuracy and a strong ROC-AUC of 0.835 — a solid, interpretable baseline for the ensemble models to beat.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 · MODEL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builds many decision trees on random subsets of data and features, then averages their predictions. This reduces overfitting and typically improves generalization over a single tree.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118104"/>
            <a:ext cx="73152" cy="73152"/>
          </a:xfrm>
          <a:prstGeom prst="ellipse">
            <a:avLst/>
          </a:prstGeom>
          <a:solidFill>
            <a:srgbClr val="3F6C9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30083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100 decision trees (n_estimators = 100)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38728"/>
            <a:ext cx="73152" cy="73152"/>
          </a:xfrm>
          <a:prstGeom prst="ellipse">
            <a:avLst/>
          </a:prstGeom>
          <a:solidFill>
            <a:srgbClr val="3F6C9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and less prone to overfitting than a single tree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73152" cy="73152"/>
          </a:xfrm>
          <a:prstGeom prst="ellipse">
            <a:avLst/>
          </a:prstGeom>
          <a:solidFill>
            <a:srgbClr val="3F6C9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8496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5-fold cross-validation for reliability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25877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73368" y="1508760"/>
            <a:ext cx="2368296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79.74%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73368" y="2048256"/>
            <a:ext cx="236829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34272" y="1417320"/>
            <a:ext cx="25877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0" y="1508760"/>
            <a:ext cx="2368296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0" y="2048256"/>
            <a:ext cx="236829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(Churn)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2651760"/>
            <a:ext cx="25877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73368" y="2743200"/>
            <a:ext cx="2368296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73368" y="3282696"/>
            <a:ext cx="236829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(Churn)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34272" y="2651760"/>
            <a:ext cx="25877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0" y="2743200"/>
            <a:ext cx="2368296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44000" y="3282696"/>
            <a:ext cx="2368296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(Churn)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TEST SET (n = 1,407)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5394960" cy="123444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C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Churn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C5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C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C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Churn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F1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6263640" y="44805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22C56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53796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5-Fold Cross-Validation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537960" y="49194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79.19%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6537960" y="5504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accuracy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869680" y="4983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scores: 79.3%, 80.1%, 77.2%, 80.4%, 79.0%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MODEL · MODEL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(Extreme Gradient Boosting) builds decision trees sequentially, with each new tree correcting the errors of the ones before it. It is prized for high performance, speed, and regularization.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searched across parameter combinations with 5-fold cross-validation, optimizing for ROC-AUC — the most reliable metric for this imbalanced churn classification problem.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73368" y="1508760"/>
            <a:ext cx="517550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76.47%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373368" y="2130552"/>
            <a:ext cx="5175504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XGBoost — Accuracy (before tuning)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7889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122C56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784080" y="2953512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D65A4A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0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3558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79.82%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92240" y="39410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52560" y="335584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0.8399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955280" y="3941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(best of all models)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6451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HYPERPARAMETERS (SELECTED VIA GRIDSEARCHCV)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92624"/>
            <a:ext cx="25877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510235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5800" y="5614416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19272" y="4992624"/>
            <a:ext cx="25877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56432" y="510235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456432" y="5614416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9904" y="4992624"/>
            <a:ext cx="25877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27064" y="510235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27064" y="5614416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860536" y="4992624"/>
            <a:ext cx="258775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997696" y="510235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997696" y="5614416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FINAL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777240" y="1645920"/>
          <a:ext cx="59893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223760" y="1417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737360"/>
          <a:ext cx="4480560" cy="173736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18872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C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C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C5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79.74%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C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2C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2C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223760" y="3657600"/>
            <a:ext cx="4480560" cy="2286000"/>
          </a:xfrm>
          <a:prstGeom prst="roundRect">
            <a:avLst>
              <a:gd name="adj" fmla="val 3200"/>
            </a:avLst>
          </a:prstGeom>
          <a:solidFill>
            <a:srgbClr val="122C56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98080" y="3840480"/>
            <a:ext cx="640080" cy="640080"/>
          </a:xfrm>
          <a:prstGeom prst="ellipse">
            <a:avLst/>
          </a:prstGeom>
          <a:solidFill>
            <a:srgbClr val="1B3E6E"/>
          </a:solidFill>
          <a:ln/>
        </p:spPr>
      </p:sp>
      <p:pic>
        <p:nvPicPr>
          <p:cNvPr id="12" name="Image 0" descr="/home/claude/build/icons/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0" y="40005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532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Selected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275320" y="4187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final model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7452360" y="470916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achieved the highest ROC-AUC (0.840) — the most reliable metric for this imbalanced churn dataset — while remaining competitive on accuracy. It was carried forward for hyperparameter tuning and SHAP interpretation.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DISCRIMINATION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Curve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ROC Curve plots the True Positive Rate against the False Positive Rate across classification thresholds. A larger Area Under the Curve (AUC) means stronger separation between churned and retained customers.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SCORECARD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31012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331012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4151376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415137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4151376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99262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122C56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49926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499262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983480" y="1417320"/>
            <a:ext cx="6355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0" y="1554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Comparison — Actual Chart from Notebook</a:t>
            </a:r>
            <a:endParaRPr lang="en-US" sz="1200" dirty="0"/>
          </a:p>
        </p:txBody>
      </p:sp>
      <p:pic>
        <p:nvPicPr>
          <p:cNvPr id="19" name="Image 0" descr="/home/claude/build/nb_images/roc_curve_10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1392" y="1965960"/>
            <a:ext cx="4799255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Explainability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087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 Plot</a:t>
            </a:r>
            <a:endParaRPr lang="en-US" sz="1250" dirty="0"/>
          </a:p>
        </p:txBody>
      </p:sp>
      <p:pic>
        <p:nvPicPr>
          <p:cNvPr id="8" name="Image 0" descr="/home/claude/build/nb_images/shap_summary_11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0208" y="1874520"/>
            <a:ext cx="2966103" cy="3566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3716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15087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(Mean |SHAP|)</a:t>
            </a:r>
            <a:endParaRPr lang="en-US" sz="1250" dirty="0"/>
          </a:p>
        </p:txBody>
      </p:sp>
      <p:pic>
        <p:nvPicPr>
          <p:cNvPr id="11" name="Image 1" descr="/home/claude/build/nb_images/shap_bar_120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678" y="1874520"/>
            <a:ext cx="300028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 IDENTIFIED BY SHAP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943600"/>
            <a:ext cx="1495044" cy="384048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5943600"/>
            <a:ext cx="1495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189988" y="5943600"/>
            <a:ext cx="886968" cy="384048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16" name="Text 12"/>
          <p:cNvSpPr/>
          <p:nvPr/>
        </p:nvSpPr>
        <p:spPr>
          <a:xfrm>
            <a:off x="2189988" y="5943600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223260" y="5943600"/>
            <a:ext cx="1668780" cy="384048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18" name="Text 14"/>
          <p:cNvSpPr/>
          <p:nvPr/>
        </p:nvSpPr>
        <p:spPr>
          <a:xfrm>
            <a:off x="3223260" y="5943600"/>
            <a:ext cx="1668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038344" y="594360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20" name="Text 16"/>
          <p:cNvSpPr/>
          <p:nvPr/>
        </p:nvSpPr>
        <p:spPr>
          <a:xfrm>
            <a:off x="5038344" y="594360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Service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940296" y="5943600"/>
            <a:ext cx="1495044" cy="384048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22" name="Text 18"/>
          <p:cNvSpPr/>
          <p:nvPr/>
        </p:nvSpPr>
        <p:spPr>
          <a:xfrm>
            <a:off x="6940296" y="5943600"/>
            <a:ext cx="1495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Count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INSIGHTS INTO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02152" y="1554480"/>
            <a:ext cx="365760" cy="365760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8" name="Text 6"/>
          <p:cNvSpPr/>
          <p:nvPr/>
        </p:nvSpPr>
        <p:spPr>
          <a:xfrm>
            <a:off x="3502152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4380" y="1641348"/>
            <a:ext cx="685800" cy="68580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10" name="Image 0" descr="/home/claude/build/icons/t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12798"/>
            <a:ext cx="342900" cy="3429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44144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Migration Offers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31520" y="28803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promotional discounts to Month-to-Month customers to encourage migration to 1- or 2-year contracts.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06240" y="141732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59752" y="1554480"/>
            <a:ext cx="365760" cy="365760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15" name="Text 12"/>
          <p:cNvSpPr/>
          <p:nvPr/>
        </p:nvSpPr>
        <p:spPr>
          <a:xfrm>
            <a:off x="7159752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11980" y="1641348"/>
            <a:ext cx="685800" cy="68580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17" name="Image 1" descr="/home/claude/build/icons/wif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430" y="1812798"/>
            <a:ext cx="342900" cy="3429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89120" y="244144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Fiber Optic Service Review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389120" y="28803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pricing and service quality of Fiber Optic internet plans, which show higher churn rates.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863840" y="141732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0817352" y="1554480"/>
            <a:ext cx="365760" cy="365760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22" name="Text 18"/>
          <p:cNvSpPr/>
          <p:nvPr/>
        </p:nvSpPr>
        <p:spPr>
          <a:xfrm>
            <a:off x="10817352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8069580" y="1641348"/>
            <a:ext cx="685800" cy="68580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24" name="Image 2" descr="/home/claude/build/icons/bulls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1812798"/>
            <a:ext cx="342900" cy="3429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046720" y="244144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Retention Campaigns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8046720" y="28803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personalized retention campaigns for customers with high monthly charges.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48640" y="370332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502152" y="3840480"/>
            <a:ext cx="365760" cy="365760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29" name="Text 24"/>
          <p:cNvSpPr/>
          <p:nvPr/>
        </p:nvSpPr>
        <p:spPr>
          <a:xfrm>
            <a:off x="3502152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754380" y="3927348"/>
            <a:ext cx="685800" cy="68580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31" name="Image 3" descr="/home/claude/build/icons/gif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098798"/>
            <a:ext cx="342900" cy="3429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31520" y="472744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First-Year Loyalty Rewards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731520" y="51663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loyalty rewards during customers’ first 12 months to improve long-term retention.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206240" y="370332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159752" y="3840480"/>
            <a:ext cx="365760" cy="365760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36" name="Text 30"/>
          <p:cNvSpPr/>
          <p:nvPr/>
        </p:nvSpPr>
        <p:spPr>
          <a:xfrm>
            <a:off x="7159752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4411980" y="3927348"/>
            <a:ext cx="685800" cy="68580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38" name="Image 4" descr="/home/claude/build/icons/shieldhalve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3430" y="4098798"/>
            <a:ext cx="342900" cy="3429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389120" y="472744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Value-Added Services</a:t>
            </a:r>
            <a:endParaRPr lang="en-US" sz="1350" dirty="0"/>
          </a:p>
        </p:txBody>
      </p:sp>
      <p:sp>
        <p:nvSpPr>
          <p:cNvPr id="40" name="Text 33"/>
          <p:cNvSpPr/>
          <p:nvPr/>
        </p:nvSpPr>
        <p:spPr>
          <a:xfrm>
            <a:off x="4389120" y="51663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Online Security and Tech Support to increase customer engagement.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7863840" y="370332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10817352" y="3840480"/>
            <a:ext cx="365760" cy="365760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43" name="Text 36"/>
          <p:cNvSpPr/>
          <p:nvPr/>
        </p:nvSpPr>
        <p:spPr>
          <a:xfrm>
            <a:off x="10817352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Shape 37"/>
          <p:cNvSpPr/>
          <p:nvPr/>
        </p:nvSpPr>
        <p:spPr>
          <a:xfrm>
            <a:off x="8069580" y="3927348"/>
            <a:ext cx="685800" cy="685800"/>
          </a:xfrm>
          <a:prstGeom prst="ellipse">
            <a:avLst/>
          </a:prstGeom>
          <a:solidFill>
            <a:srgbClr val="122C56"/>
          </a:solidFill>
          <a:ln/>
        </p:spPr>
      </p:sp>
      <p:pic>
        <p:nvPicPr>
          <p:cNvPr id="45" name="Image 5" descr="/home/claude/build/icons/bell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1030" y="4098798"/>
            <a:ext cx="342900" cy="3429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046720" y="472744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Early-Warning Monitoring</a:t>
            </a:r>
            <a:endParaRPr lang="en-US" sz="1350" dirty="0"/>
          </a:p>
        </p:txBody>
      </p:sp>
      <p:sp>
        <p:nvSpPr>
          <p:cNvPr id="47" name="Text 39"/>
          <p:cNvSpPr/>
          <p:nvPr/>
        </p:nvSpPr>
        <p:spPr>
          <a:xfrm>
            <a:off x="8046720" y="51663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churn model as an early warning system to flag high-risk customers before they leave.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6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0789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50976" y="1600200"/>
            <a:ext cx="566928" cy="566928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8" name="Image 0" descr="/home/claude/build/icons/rock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1741932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5819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Additional Algorithms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760720" y="153619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LightGBM, CatBoost, or stacked ensembles to further improve predictive performance.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377440"/>
            <a:ext cx="10789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50976" y="2514600"/>
            <a:ext cx="566928" cy="566928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13" name="Image 1" descr="/home/claude/build/icons/sca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265633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4963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Class Imbalance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760720" y="245059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techniques such as SMOTE or class-weighting to better capture minority-class churners.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291840"/>
            <a:ext cx="10789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0976" y="3429000"/>
            <a:ext cx="566928" cy="566928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18" name="Image 2" descr="/home/claude/build/icons/networkwire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357073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4107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as a Live Prediction Service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760720" y="336499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model as a real-time API or dashboard for customer service and retention teams.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206240"/>
            <a:ext cx="10789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50976" y="4343400"/>
            <a:ext cx="566928" cy="566928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23" name="Image 3" descr="/home/claude/build/icons/layergroup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" y="448513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91640" y="43251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 with Additional Data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760720" y="427939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support tickets, NPS, or satisfaction survey data to strengthen the feature set.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5120640"/>
            <a:ext cx="10789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C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50976" y="5257800"/>
            <a:ext cx="566928" cy="566928"/>
          </a:xfrm>
          <a:prstGeom prst="ellipse">
            <a:avLst/>
          </a:prstGeom>
          <a:solidFill>
            <a:srgbClr val="E7EEF9"/>
          </a:solidFill>
          <a:ln/>
        </p:spPr>
      </p:sp>
      <p:pic>
        <p:nvPicPr>
          <p:cNvPr id="28" name="Image 4" descr="/home/claude/build/icons/clockrotat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" y="539953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91640" y="52395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 Periodic Retraining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760720" y="5193792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regular model retraining to keep pace with evolving customer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846320"/>
            <a:ext cx="3291840" cy="3291840"/>
          </a:xfrm>
          <a:prstGeom prst="ellipse">
            <a:avLst/>
          </a:prstGeom>
          <a:solidFill>
            <a:srgbClr val="122C5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delivered a complete, end-to-end machine learning pipeline for predicting customer churn at ConnectTel — spanning data cleaning, exploratory analysis, feature engineering, model training, hyperparameter tuning, and explainable AI.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all evaluated models, XGBoost achieved the best overall ROC-AUC performance and was selected as the final predictive model.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developed solution enables ConnectTel to proactively identify customers at high risk of churn and implement targeted retention strategies — reducing attrition and protecting revenue.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52360" y="1508760"/>
            <a:ext cx="3977640" cy="2880360"/>
          </a:xfrm>
          <a:prstGeom prst="roundRect">
            <a:avLst>
              <a:gd name="adj" fmla="val 2540"/>
            </a:avLst>
          </a:prstGeom>
          <a:solidFill>
            <a:srgbClr val="122C56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06840" y="1874520"/>
            <a:ext cx="822960" cy="822960"/>
          </a:xfrm>
          <a:prstGeom prst="ellipse">
            <a:avLst/>
          </a:prstGeom>
          <a:solidFill>
            <a:srgbClr val="D65A4A"/>
          </a:solidFill>
          <a:ln/>
        </p:spPr>
      </p:sp>
      <p:pic>
        <p:nvPicPr>
          <p:cNvPr id="11" name="Image 0" descr="/home/claude/build/icons/chart_are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0" y="208026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35240" y="28803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0.840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7635240" y="3566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ROC-AUC — XGBoost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818120" y="4069080"/>
            <a:ext cx="3246120" cy="0"/>
          </a:xfrm>
          <a:prstGeom prst="line">
            <a:avLst/>
          </a:prstGeom>
          <a:noFill/>
          <a:ln w="12700">
            <a:solidFill>
              <a:srgbClr val="1B3E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42062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SHAP drivers: Contract Type, Tenure, Monthly Charges, Internet Service, Service Count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Panchal   •   ConnectTel Churn Prediction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ln w="19050">
            <a:solidFill>
              <a:srgbClr val="1B3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371600"/>
            <a:ext cx="4663440" cy="4663440"/>
          </a:xfrm>
          <a:prstGeom prst="ellipse">
            <a:avLst/>
          </a:prstGeom>
          <a:ln w="19050">
            <a:solidFill>
              <a:srgbClr val="1B3E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743200"/>
            <a:ext cx="5669280" cy="5669280"/>
          </a:xfrm>
          <a:prstGeom prst="ellipse">
            <a:avLst/>
          </a:prstGeom>
          <a:solidFill>
            <a:srgbClr val="1B3E6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3840480"/>
            <a:ext cx="3474720" cy="3474720"/>
          </a:xfrm>
          <a:prstGeom prst="ellipse">
            <a:avLst/>
          </a:prstGeom>
          <a:solidFill>
            <a:srgbClr val="122C56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12801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0" y="210312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0" y="26517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64008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9052560" y="17373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1188720"/>
            <a:ext cx="1371600" cy="1371600"/>
          </a:xfrm>
          <a:prstGeom prst="ellipse">
            <a:avLst/>
          </a:prstGeom>
          <a:solidFill>
            <a:srgbClr val="1B3E6E"/>
          </a:solidFill>
          <a:ln/>
        </p:spPr>
      </p:sp>
      <p:pic>
        <p:nvPicPr>
          <p:cNvPr id="12" name="Image 0" descr="/home/claude/build/icons/handsh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8420" y="1531620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2148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MACHINE LEARNING CASE STUDY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" y="2514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822960" y="3520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22960" y="5120640"/>
            <a:ext cx="0" cy="566928"/>
          </a:xfrm>
          <a:prstGeom prst="line">
            <a:avLst/>
          </a:prstGeom>
          <a:noFill/>
          <a:ln w="19050">
            <a:solidFill>
              <a:srgbClr val="1B3E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128" y="5056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Abhishek Panchal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024128" y="54223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Machine Learning Portfolio  |  ConnectTel Churn Prediction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2026-07-18T11:42:59Z</dcterms:created>
  <dcterms:modified xsi:type="dcterms:W3CDTF">2026-07-18T11:42:59Z</dcterms:modified>
</cp:coreProperties>
</file>